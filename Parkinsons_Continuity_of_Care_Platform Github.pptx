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565C20E-8CC4-4BF2-8285-236F5380C84A}">
          <p14:sldIdLst>
            <p14:sldId id="256"/>
            <p14:sldId id="267"/>
          </p14:sldIdLst>
        </p14:section>
        <p14:section name="Problem" id="{C5820037-F608-571C-5D16-C7F9A103BB75}">
          <p14:sldIdLst>
            <p14:sldId id="257"/>
          </p14:sldIdLst>
        </p14:section>
        <p14:section name="Solution" id="{A6D3F1B0-91CC-356E-F904-EA2372A02204}">
          <p14:sldIdLst>
            <p14:sldId id="258"/>
          </p14:sldIdLst>
        </p14:section>
        <p14:section name="Platform" id="{14DA3C25-EF27-0B03-E213-90330EE4121B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Impact" id="{338E32EC-B548-AD75-4F4E-0BEF98B9AF2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1D1D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D1D1D"/>
                </a:solidFill>
                <a:latin typeface="+mn-lt"/>
              </a:rPr>
              <a:t>Tremor severity by hours since dose (illustrative)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Tremor severity</c:v>
                </c:pt>
              </c:strCache>
            </c:strRef>
          </c:tx>
          <c:spPr>
            <a:ln w="38100" cap="flat">
              <a:solidFill>
                <a:srgbClr val="0071E3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0071E3"/>
              </a:solidFill>
              <a:ln w="9525" cap="flat">
                <a:solidFill>
                  <a:srgbClr val="0071E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D1D1D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14</c:v>
                </c:pt>
                <c:pt idx="2">
                  <c:v>22</c:v>
                </c:pt>
                <c:pt idx="3">
                  <c:v>48</c:v>
                </c:pt>
                <c:pt idx="4">
                  <c:v>63</c:v>
                </c:pt>
                <c:pt idx="5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0B-CC48-A32C-F91BA617EC9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572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572"/>
                    </a:solidFill>
                    <a:latin typeface="+mn-lt"/>
                  </a:rPr>
                  <a:t>Hours since levodopa dose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1D1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1D1D"/>
                </a:solidFill>
                <a:latin typeface="+mn-lt"/>
              </a:rPr>
              <a:t>Daily tremor severity index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Tremor severity</c:v>
                </c:pt>
              </c:strCache>
            </c:strRef>
          </c:tx>
          <c:spPr>
            <a:solidFill>
              <a:srgbClr val="0071E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D1D1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31</c:v>
                </c:pt>
                <c:pt idx="3">
                  <c:v>44</c:v>
                </c:pt>
                <c:pt idx="4">
                  <c:v>52</c:v>
                </c:pt>
                <c:pt idx="5">
                  <c:v>58</c:v>
                </c:pt>
                <c:pt idx="6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5C-4C43-B430-8762CC6DD7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9C03C-848B-D940-931E-E6051DB3950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696AE-8953-2F4D-B6A9-875CC629B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1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83080"/>
            <a:ext cx="6766560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4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3" Type="http://schemas.openxmlformats.org/officeDocument/2006/relationships/image" Target="../media/image13.pn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5.png" /><Relationship Id="rId5" Type="http://schemas.openxmlformats.org/officeDocument/2006/relationships/image" Target="../media/image7.png" /><Relationship Id="rId10" Type="http://schemas.openxmlformats.org/officeDocument/2006/relationships/image" Target="../media/image19.png" /><Relationship Id="rId4" Type="http://schemas.openxmlformats.org/officeDocument/2006/relationships/image" Target="../media/image14.png" /><Relationship Id="rId9" Type="http://schemas.openxmlformats.org/officeDocument/2006/relationships/image" Target="../media/image1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1.png" /><Relationship Id="rId5" Type="http://schemas.openxmlformats.org/officeDocument/2006/relationships/image" Target="../media/image3.png" /><Relationship Id="rId4" Type="http://schemas.openxmlformats.org/officeDocument/2006/relationships/image" Target="../media/image10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 /><Relationship Id="rId3" Type="http://schemas.openxmlformats.org/officeDocument/2006/relationships/image" Target="../media/image22.png" /><Relationship Id="rId7" Type="http://schemas.openxmlformats.org/officeDocument/2006/relationships/image" Target="../media/image8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.png" /><Relationship Id="rId5" Type="http://schemas.openxmlformats.org/officeDocument/2006/relationships/image" Target="../media/image23.png" /><Relationship Id="rId4" Type="http://schemas.openxmlformats.org/officeDocument/2006/relationships/chart" Target="../charts/chart2.xml" /><Relationship Id="rId9" Type="http://schemas.openxmlformats.org/officeDocument/2006/relationships/image" Target="../media/image13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7.png" /><Relationship Id="rId4" Type="http://schemas.openxmlformats.org/officeDocument/2006/relationships/image" Target="../media/image26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2.png" /><Relationship Id="rId4" Type="http://schemas.openxmlformats.org/officeDocument/2006/relationships/image" Target="../media/image2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pill"/>
          <p:cNvSpPr/>
          <p:nvPr/>
        </p:nvSpPr>
        <p:spPr>
          <a:xfrm>
            <a:off x="731520" y="1097280"/>
            <a:ext cx="25146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3" name="Eyebrow text"/>
          <p:cNvSpPr txBox="1"/>
          <p:nvPr/>
        </p:nvSpPr>
        <p:spPr>
          <a:xfrm>
            <a:off x="731520" y="1097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CONTINUITY OF CARE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83080"/>
            <a:ext cx="676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Parkinson's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Continuity-of-Care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Platform</a:t>
            </a:r>
            <a:endParaRPr lang="en-US" sz="4400" dirty="0"/>
          </a:p>
        </p:txBody>
      </p:sp>
      <p:sp>
        <p:nvSpPr>
          <p:cNvPr id="5" name="Subtitle"/>
          <p:cNvSpPr txBox="1"/>
          <p:nvPr/>
        </p:nvSpPr>
        <p:spPr>
          <a:xfrm>
            <a:off x="731520" y="41605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Turning passive tremor and fall data into medication-aware, personalized follow-up and early escalation to the care team</a:t>
            </a:r>
            <a:endParaRPr lang="en-US" sz="2000" dirty="0"/>
          </a:p>
        </p:txBody>
      </p:sp>
      <p:sp>
        <p:nvSpPr>
          <p:cNvPr id="6" name="Tag Medication-aware"/>
          <p:cNvSpPr/>
          <p:nvPr/>
        </p:nvSpPr>
        <p:spPr>
          <a:xfrm>
            <a:off x="731520" y="553212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7" name="Tag text Medication-aware"/>
          <p:cNvSpPr txBox="1"/>
          <p:nvPr/>
        </p:nvSpPr>
        <p:spPr>
          <a:xfrm>
            <a:off x="731520" y="5532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Medication-aware</a:t>
            </a:r>
            <a:endParaRPr lang="en-US" sz="1400" dirty="0"/>
          </a:p>
        </p:txBody>
      </p:sp>
      <p:sp>
        <p:nvSpPr>
          <p:cNvPr id="8" name="Tag Personalized"/>
          <p:cNvSpPr/>
          <p:nvPr/>
        </p:nvSpPr>
        <p:spPr>
          <a:xfrm>
            <a:off x="3017520" y="553212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Tag text Personalized"/>
          <p:cNvSpPr txBox="1"/>
          <p:nvPr/>
        </p:nvSpPr>
        <p:spPr>
          <a:xfrm>
            <a:off x="3017520" y="5532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Personalized</a:t>
            </a:r>
            <a:endParaRPr lang="en-US" sz="1400" dirty="0"/>
          </a:p>
        </p:txBody>
      </p:sp>
      <p:sp>
        <p:nvSpPr>
          <p:cNvPr id="10" name="Tag Early escalation"/>
          <p:cNvSpPr/>
          <p:nvPr/>
        </p:nvSpPr>
        <p:spPr>
          <a:xfrm>
            <a:off x="5303520" y="553212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1" name="Tag text Early escalation"/>
          <p:cNvSpPr txBox="1"/>
          <p:nvPr/>
        </p:nvSpPr>
        <p:spPr>
          <a:xfrm>
            <a:off x="5303520" y="5532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Early escalation</a:t>
            </a:r>
            <a:endParaRPr lang="en-US" sz="1400" dirty="0"/>
          </a:p>
        </p:txBody>
      </p:sp>
      <p:sp>
        <p:nvSpPr>
          <p:cNvPr id="12" name="Ring outer"/>
          <p:cNvSpPr/>
          <p:nvPr/>
        </p:nvSpPr>
        <p:spPr>
          <a:xfrm>
            <a:off x="7315200" y="1143000"/>
            <a:ext cx="4480560" cy="4480560"/>
          </a:xfrm>
          <a:prstGeom prst="ellipse">
            <a:avLst/>
          </a:prstGeom>
          <a:solidFill>
            <a:schemeClr val="bg1">
              <a:alpha val="7000"/>
            </a:schemeClr>
          </a:solidFill>
          <a:ln/>
        </p:spPr>
      </p:sp>
      <p:sp>
        <p:nvSpPr>
          <p:cNvPr id="13" name="Ring mid"/>
          <p:cNvSpPr/>
          <p:nvPr/>
        </p:nvSpPr>
        <p:spPr>
          <a:xfrm>
            <a:off x="7909560" y="1737360"/>
            <a:ext cx="3291840" cy="3291840"/>
          </a:xfrm>
          <a:prstGeom prst="ellipse">
            <a:avLst/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4" name="Ring inner"/>
          <p:cNvSpPr/>
          <p:nvPr/>
        </p:nvSpPr>
        <p:spPr>
          <a:xfrm>
            <a:off x="8503920" y="2331720"/>
            <a:ext cx="2103120" cy="2103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Hero icon" descr="Car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926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pill"/>
          <p:cNvSpPr/>
          <p:nvPr/>
        </p:nvSpPr>
        <p:spPr>
          <a:xfrm>
            <a:off x="731520" y="1097280"/>
            <a:ext cx="25146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3" name="Eyebrow text"/>
          <p:cNvSpPr txBox="1"/>
          <p:nvPr/>
        </p:nvSpPr>
        <p:spPr>
          <a:xfrm>
            <a:off x="731520" y="1097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THE PITCH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83080"/>
            <a:ext cx="676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Continuity of care, not just monitoring</a:t>
            </a:r>
            <a:endParaRPr lang="en-US" sz="4400" dirty="0"/>
          </a:p>
        </p:txBody>
      </p:sp>
      <p:sp>
        <p:nvSpPr>
          <p:cNvPr id="5" name="Pitch statement"/>
          <p:cNvSpPr txBox="1"/>
          <p:nvPr/>
        </p:nvSpPr>
        <p:spPr>
          <a:xfrm>
            <a:off x="731520" y="41605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 continuity-of-care platform that turns passive tremor and fall data into medication-aware, personalized follow-up and early escalation to the care team.</a:t>
            </a:r>
            <a:endParaRPr lang="en-US" sz="2000" dirty="0"/>
          </a:p>
        </p:txBody>
      </p:sp>
      <p:sp>
        <p:nvSpPr>
          <p:cNvPr id="6" name="Tag Medication-aware"/>
          <p:cNvSpPr/>
          <p:nvPr/>
        </p:nvSpPr>
        <p:spPr>
          <a:xfrm>
            <a:off x="731520" y="562356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7" name="Tag text Medication-aware"/>
          <p:cNvSpPr txBox="1"/>
          <p:nvPr/>
        </p:nvSpPr>
        <p:spPr>
          <a:xfrm>
            <a:off x="73152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Medication-aware</a:t>
            </a:r>
            <a:endParaRPr lang="en-US" sz="1400" dirty="0"/>
          </a:p>
        </p:txBody>
      </p:sp>
      <p:sp>
        <p:nvSpPr>
          <p:cNvPr id="8" name="Tag Personalized"/>
          <p:cNvSpPr/>
          <p:nvPr/>
        </p:nvSpPr>
        <p:spPr>
          <a:xfrm>
            <a:off x="3017520" y="562356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Tag text Personalized"/>
          <p:cNvSpPr txBox="1"/>
          <p:nvPr/>
        </p:nvSpPr>
        <p:spPr>
          <a:xfrm>
            <a:off x="301752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Personalized</a:t>
            </a:r>
            <a:endParaRPr lang="en-US" sz="1400" dirty="0"/>
          </a:p>
        </p:txBody>
      </p:sp>
      <p:sp>
        <p:nvSpPr>
          <p:cNvPr id="10" name="Tag Early escalation"/>
          <p:cNvSpPr/>
          <p:nvPr/>
        </p:nvSpPr>
        <p:spPr>
          <a:xfrm>
            <a:off x="5303520" y="562356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1" name="Tag text Early escalation"/>
          <p:cNvSpPr txBox="1"/>
          <p:nvPr/>
        </p:nvSpPr>
        <p:spPr>
          <a:xfrm>
            <a:off x="530352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Early escalation</a:t>
            </a:r>
            <a:endParaRPr lang="en-US" sz="1400" dirty="0"/>
          </a:p>
        </p:txBody>
      </p:sp>
      <p:sp>
        <p:nvSpPr>
          <p:cNvPr id="12" name="Ring outer"/>
          <p:cNvSpPr/>
          <p:nvPr/>
        </p:nvSpPr>
        <p:spPr>
          <a:xfrm>
            <a:off x="7315200" y="1143000"/>
            <a:ext cx="4480560" cy="4480560"/>
          </a:xfrm>
          <a:prstGeom prst="ellipse">
            <a:avLst/>
          </a:prstGeom>
          <a:solidFill>
            <a:schemeClr val="bg1">
              <a:alpha val="7000"/>
            </a:schemeClr>
          </a:solidFill>
          <a:ln/>
        </p:spPr>
      </p:sp>
      <p:sp>
        <p:nvSpPr>
          <p:cNvPr id="13" name="Ring mid"/>
          <p:cNvSpPr/>
          <p:nvPr/>
        </p:nvSpPr>
        <p:spPr>
          <a:xfrm>
            <a:off x="7909560" y="1737360"/>
            <a:ext cx="3291840" cy="3291840"/>
          </a:xfrm>
          <a:prstGeom prst="ellipse">
            <a:avLst/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4" name="Ring inner"/>
          <p:cNvSpPr/>
          <p:nvPr/>
        </p:nvSpPr>
        <p:spPr>
          <a:xfrm>
            <a:off x="8503920" y="2331720"/>
            <a:ext cx="2103120" cy="2103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Hero icon" descr="Car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926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Care Breaks Down Between Visits</a:t>
            </a:r>
            <a:endParaRPr lang="en-US" sz="3200" dirty="0"/>
          </a:p>
        </p:txBody>
      </p:sp>
      <p:sp>
        <p:nvSpPr>
          <p:cNvPr id="4" name="Visits Are Rare, Symptoms Aren't card"/>
          <p:cNvSpPr/>
          <p:nvPr/>
        </p:nvSpPr>
        <p:spPr>
          <a:xfrm>
            <a:off x="548640" y="1554480"/>
            <a:ext cx="67665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5" name="Visits Are Rare, Symptoms Aren't badge"/>
          <p:cNvSpPr/>
          <p:nvPr/>
        </p:nvSpPr>
        <p:spPr>
          <a:xfrm>
            <a:off x="749808" y="1805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Visits Are Rare, Symptoms Aren't icon" descr="Visits Are Rare, Symptoms Aren'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954073"/>
            <a:ext cx="252374" cy="252374"/>
          </a:xfrm>
          <a:prstGeom prst="rect">
            <a:avLst/>
          </a:prstGeom>
        </p:spPr>
      </p:pic>
      <p:sp>
        <p:nvSpPr>
          <p:cNvPr id="7" name="Visits Are Rare, Symptoms Aren't text"/>
          <p:cNvSpPr txBox="1"/>
          <p:nvPr/>
        </p:nvSpPr>
        <p:spPr>
          <a:xfrm>
            <a:off x="1463040" y="160020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Visits Are Rare, Symptoms Aren't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Patients see a neurologist every few months, but tremor and mobility shift daily. Most of the disease course goes unseen.</a:t>
            </a:r>
            <a:endParaRPr lang="en-US" sz="1600" dirty="0"/>
          </a:p>
        </p:txBody>
      </p:sp>
      <p:sp>
        <p:nvSpPr>
          <p:cNvPr id="8" name="Medication Timing Is Hard to Tune card"/>
          <p:cNvSpPr/>
          <p:nvPr/>
        </p:nvSpPr>
        <p:spPr>
          <a:xfrm>
            <a:off x="548640" y="2743200"/>
            <a:ext cx="67665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Medication Timing Is Hard to Tune badge"/>
          <p:cNvSpPr/>
          <p:nvPr/>
        </p:nvSpPr>
        <p:spPr>
          <a:xfrm>
            <a:off x="749808" y="29946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edication Timing Is Hard to Tune icon" descr="Medication Timing Is Hard to Tu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142793"/>
            <a:ext cx="252374" cy="252374"/>
          </a:xfrm>
          <a:prstGeom prst="rect">
            <a:avLst/>
          </a:prstGeom>
        </p:spPr>
      </p:pic>
      <p:sp>
        <p:nvSpPr>
          <p:cNvPr id="11" name="Medication Timing Is Hard to Tune text"/>
          <p:cNvSpPr txBox="1"/>
          <p:nvPr/>
        </p:nvSpPr>
        <p:spPr>
          <a:xfrm>
            <a:off x="1463040" y="278892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Medication Timing Is Hard to Tune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Levodopa response varies through the day. Without between-visit data, adjusting dose timing is largely guesswork.</a:t>
            </a:r>
            <a:endParaRPr lang="en-US" sz="1600" dirty="0"/>
          </a:p>
        </p:txBody>
      </p:sp>
      <p:sp>
        <p:nvSpPr>
          <p:cNvPr id="12" name="Falls and Gaps Surface Late card"/>
          <p:cNvSpPr/>
          <p:nvPr/>
        </p:nvSpPr>
        <p:spPr>
          <a:xfrm>
            <a:off x="548640" y="3931920"/>
            <a:ext cx="67665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3" name="Falls and Gaps Surface Late badge"/>
          <p:cNvSpPr/>
          <p:nvPr/>
        </p:nvSpPr>
        <p:spPr>
          <a:xfrm>
            <a:off x="749808" y="41833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alls and Gaps Surface Late icon" descr="Falls and Gaps Surface L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331513"/>
            <a:ext cx="252374" cy="252374"/>
          </a:xfrm>
          <a:prstGeom prst="rect">
            <a:avLst/>
          </a:prstGeom>
        </p:spPr>
      </p:pic>
      <p:sp>
        <p:nvSpPr>
          <p:cNvPr id="15" name="Falls and Gaps Surface Late text"/>
          <p:cNvSpPr txBox="1"/>
          <p:nvPr/>
        </p:nvSpPr>
        <p:spPr>
          <a:xfrm>
            <a:off x="1463040" y="397764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Falls and Gaps Surface Late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Balance problems raise fall risk, and missed doses or overdue follow-ups often show up only after a crisis.</a:t>
            </a:r>
            <a:endParaRPr lang="en-US" sz="1600" dirty="0"/>
          </a:p>
        </p:txBody>
      </p:sp>
      <p:sp>
        <p:nvSpPr>
          <p:cNvPr id="16" name="Stat card 10M+"/>
          <p:cNvSpPr/>
          <p:nvPr/>
        </p:nvSpPr>
        <p:spPr>
          <a:xfrm>
            <a:off x="7589520" y="1554480"/>
            <a:ext cx="4050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7" name="Stat 10M+"/>
          <p:cNvSpPr txBox="1"/>
          <p:nvPr/>
        </p:nvSpPr>
        <p:spPr>
          <a:xfrm>
            <a:off x="7772400" y="155448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10M+</a:t>
            </a:r>
            <a:endParaRPr lang="en-US" sz="3600" dirty="0"/>
          </a:p>
        </p:txBody>
      </p:sp>
      <p:sp>
        <p:nvSpPr>
          <p:cNvPr id="18" name="Stat label 10M+"/>
          <p:cNvSpPr txBox="1"/>
          <p:nvPr/>
        </p:nvSpPr>
        <p:spPr>
          <a:xfrm>
            <a:off x="9418320" y="1554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People living with Parkinson's disease worldwide</a:t>
            </a:r>
            <a:endParaRPr lang="en-US" sz="1400" dirty="0"/>
          </a:p>
        </p:txBody>
      </p:sp>
      <p:sp>
        <p:nvSpPr>
          <p:cNvPr id="19" name="Stat card 75%"/>
          <p:cNvSpPr/>
          <p:nvPr/>
        </p:nvSpPr>
        <p:spPr>
          <a:xfrm>
            <a:off x="7589520" y="2743200"/>
            <a:ext cx="4050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0" name="Stat 75%"/>
          <p:cNvSpPr txBox="1"/>
          <p:nvPr/>
        </p:nvSpPr>
        <p:spPr>
          <a:xfrm>
            <a:off x="7772400" y="27432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75%</a:t>
            </a:r>
            <a:endParaRPr lang="en-US" sz="3600" dirty="0"/>
          </a:p>
        </p:txBody>
      </p:sp>
      <p:sp>
        <p:nvSpPr>
          <p:cNvPr id="21" name="Stat label 75%"/>
          <p:cNvSpPr txBox="1"/>
          <p:nvPr/>
        </p:nvSpPr>
        <p:spPr>
          <a:xfrm>
            <a:off x="941832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Experience tremor as a primary symptom</a:t>
            </a:r>
            <a:endParaRPr lang="en-US" sz="1400" dirty="0"/>
          </a:p>
        </p:txBody>
      </p:sp>
      <p:sp>
        <p:nvSpPr>
          <p:cNvPr id="22" name="Stat card 2–3x"/>
          <p:cNvSpPr/>
          <p:nvPr/>
        </p:nvSpPr>
        <p:spPr>
          <a:xfrm>
            <a:off x="7589520" y="3931920"/>
            <a:ext cx="4050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3" name="Stat 2–3x"/>
          <p:cNvSpPr txBox="1"/>
          <p:nvPr/>
        </p:nvSpPr>
        <p:spPr>
          <a:xfrm>
            <a:off x="7772400" y="39319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2–3x</a:t>
            </a:r>
            <a:endParaRPr lang="en-US" sz="3600" dirty="0"/>
          </a:p>
        </p:txBody>
      </p:sp>
      <p:sp>
        <p:nvSpPr>
          <p:cNvPr id="24" name="Stat label 2–3x"/>
          <p:cNvSpPr txBox="1"/>
          <p:nvPr/>
        </p:nvSpPr>
        <p:spPr>
          <a:xfrm>
            <a:off x="9418320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Higher fall rate than healthy older adults</a:t>
            </a:r>
            <a:endParaRPr lang="en-US" sz="1400" dirty="0"/>
          </a:p>
        </p:txBody>
      </p:sp>
      <p:sp>
        <p:nvSpPr>
          <p:cNvPr id="25" name="Need card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26" name="Need text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need: </a:t>
            </a:r>
            <a:r>
              <a:rPr lang="en-US" sz="1800" dirty="0">
                <a:solidFill>
                  <a:schemeClr val="bg1"/>
                </a:solidFill>
              </a:rPr>
              <a:t>a continuity-of-care platform that connects daily symptoms, medication and follow-up, and flags concerns to the care team early.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SOLUTION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One Platform, Four Connected Functions</a:t>
            </a:r>
            <a:endParaRPr lang="en-US" sz="3200" dirty="0"/>
          </a:p>
        </p:txBody>
      </p:sp>
      <p:sp>
        <p:nvSpPr>
          <p:cNvPr id="4" name="Pillar Sense"/>
          <p:cNvSpPr/>
          <p:nvPr/>
        </p:nvSpPr>
        <p:spPr>
          <a:xfrm>
            <a:off x="548640" y="155448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5" name="Sense badg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ense icon" descr="Sen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2" y="1955902"/>
            <a:ext cx="294437" cy="294437"/>
          </a:xfrm>
          <a:prstGeom prst="rect">
            <a:avLst/>
          </a:prstGeom>
        </p:spPr>
      </p:pic>
      <p:sp>
        <p:nvSpPr>
          <p:cNvPr id="7" name="Sense title"/>
          <p:cNvSpPr txBox="1"/>
          <p:nvPr/>
        </p:nvSpPr>
        <p:spPr>
          <a:xfrm>
            <a:off x="7772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Sense</a:t>
            </a:r>
            <a:endParaRPr lang="en-US" sz="2000" dirty="0"/>
          </a:p>
        </p:txBody>
      </p:sp>
      <p:sp>
        <p:nvSpPr>
          <p:cNvPr id="8" name="Sense text"/>
          <p:cNvSpPr txBox="1"/>
          <p:nvPr/>
        </p:nvSpPr>
        <p:spPr>
          <a:xfrm>
            <a:off x="77724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Passive tremor and fall detection plus quick daily check-ins.</a:t>
            </a:r>
            <a:endParaRPr lang="en-US" sz="1400" dirty="0"/>
          </a:p>
        </p:txBody>
      </p:sp>
      <p:sp>
        <p:nvSpPr>
          <p:cNvPr id="9" name="Pillar Coordinate"/>
          <p:cNvSpPr/>
          <p:nvPr/>
        </p:nvSpPr>
        <p:spPr>
          <a:xfrm>
            <a:off x="3374136" y="155448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0" name="Coordinate badge"/>
          <p:cNvSpPr/>
          <p:nvPr/>
        </p:nvSpPr>
        <p:spPr>
          <a:xfrm>
            <a:off x="3602736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ordinate icon" descr="Coordin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558" y="1955902"/>
            <a:ext cx="294437" cy="294437"/>
          </a:xfrm>
          <a:prstGeom prst="rect">
            <a:avLst/>
          </a:prstGeom>
        </p:spPr>
      </p:pic>
      <p:sp>
        <p:nvSpPr>
          <p:cNvPr id="12" name="Coordinate title"/>
          <p:cNvSpPr txBox="1"/>
          <p:nvPr/>
        </p:nvSpPr>
        <p:spPr>
          <a:xfrm>
            <a:off x="3602736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Coordinate</a:t>
            </a:r>
            <a:endParaRPr lang="en-US" sz="2000" dirty="0"/>
          </a:p>
        </p:txBody>
      </p:sp>
      <p:sp>
        <p:nvSpPr>
          <p:cNvPr id="13" name="Coordinate text"/>
          <p:cNvSpPr txBox="1"/>
          <p:nvPr/>
        </p:nvSpPr>
        <p:spPr>
          <a:xfrm>
            <a:off x="3602736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Medication schedules, adherence logs and dose-linked symptom trends.</a:t>
            </a:r>
            <a:endParaRPr lang="en-US" sz="1400" dirty="0"/>
          </a:p>
        </p:txBody>
      </p:sp>
      <p:sp>
        <p:nvSpPr>
          <p:cNvPr id="14" name="Pillar Personalize"/>
          <p:cNvSpPr/>
          <p:nvPr/>
        </p:nvSpPr>
        <p:spPr>
          <a:xfrm>
            <a:off x="6199632" y="155448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5" name="Personalize badge"/>
          <p:cNvSpPr/>
          <p:nvPr/>
        </p:nvSpPr>
        <p:spPr>
          <a:xfrm>
            <a:off x="6428232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ersonalize icon" descr="Personaliz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054" y="1955902"/>
            <a:ext cx="294437" cy="294437"/>
          </a:xfrm>
          <a:prstGeom prst="rect">
            <a:avLst/>
          </a:prstGeom>
        </p:spPr>
      </p:pic>
      <p:sp>
        <p:nvSpPr>
          <p:cNvPr id="17" name="Personalize title"/>
          <p:cNvSpPr txBox="1"/>
          <p:nvPr/>
        </p:nvSpPr>
        <p:spPr>
          <a:xfrm>
            <a:off x="6428232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Personalize</a:t>
            </a:r>
            <a:endParaRPr lang="en-US" sz="2000" dirty="0"/>
          </a:p>
        </p:txBody>
      </p:sp>
      <p:sp>
        <p:nvSpPr>
          <p:cNvPr id="18" name="Personalize text"/>
          <p:cNvSpPr txBox="1"/>
          <p:nvPr/>
        </p:nvSpPr>
        <p:spPr>
          <a:xfrm>
            <a:off x="6428232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 care plan adapted to living situation, caregiver support and mobility.</a:t>
            </a:r>
            <a:endParaRPr lang="en-US" sz="1400" dirty="0"/>
          </a:p>
        </p:txBody>
      </p:sp>
      <p:sp>
        <p:nvSpPr>
          <p:cNvPr id="19" name="Pillar Escalate"/>
          <p:cNvSpPr/>
          <p:nvPr/>
        </p:nvSpPr>
        <p:spPr>
          <a:xfrm>
            <a:off x="9025128" y="155448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20" name="Escalate badge"/>
          <p:cNvSpPr/>
          <p:nvPr/>
        </p:nvSpPr>
        <p:spPr>
          <a:xfrm>
            <a:off x="925372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Escalate icon" descr="Escala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6550" y="1955902"/>
            <a:ext cx="294437" cy="294437"/>
          </a:xfrm>
          <a:prstGeom prst="rect">
            <a:avLst/>
          </a:prstGeom>
        </p:spPr>
      </p:pic>
      <p:sp>
        <p:nvSpPr>
          <p:cNvPr id="22" name="Escalate title"/>
          <p:cNvSpPr txBox="1"/>
          <p:nvPr/>
        </p:nvSpPr>
        <p:spPr>
          <a:xfrm>
            <a:off x="9253728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Escalate</a:t>
            </a:r>
            <a:endParaRPr lang="en-US" sz="2000" dirty="0"/>
          </a:p>
        </p:txBody>
      </p:sp>
      <p:sp>
        <p:nvSpPr>
          <p:cNvPr id="23" name="Escalate text"/>
          <p:cNvSpPr txBox="1"/>
          <p:nvPr/>
        </p:nvSpPr>
        <p:spPr>
          <a:xfrm>
            <a:off x="9253728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Predefined warning signs sent to clinicians for review.</a:t>
            </a:r>
            <a:endParaRPr lang="en-US" sz="1400" dirty="0"/>
          </a:p>
        </p:txBody>
      </p:sp>
      <p:sp>
        <p:nvSpPr>
          <p:cNvPr id="24" name="Section header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25" name="Step 1"/>
          <p:cNvSpPr/>
          <p:nvPr/>
        </p:nvSpPr>
        <p:spPr>
          <a:xfrm>
            <a:off x="548640" y="4709160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6" name="Step number 1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Step digit 1"/>
          <p:cNvSpPr txBox="1"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8" name="Step text 1"/>
          <p:cNvSpPr txBox="1"/>
          <p:nvPr/>
        </p:nvSpPr>
        <p:spPr>
          <a:xfrm>
            <a:off x="1371600" y="48006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Capture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Tremor, falls and quick check-ins are collected passively and by simple patient input.</a:t>
            </a:r>
            <a:endParaRPr lang="en-US" sz="1600" dirty="0"/>
          </a:p>
        </p:txBody>
      </p:sp>
      <p:sp>
        <p:nvSpPr>
          <p:cNvPr id="29" name="Step 2"/>
          <p:cNvSpPr/>
          <p:nvPr/>
        </p:nvSpPr>
        <p:spPr>
          <a:xfrm>
            <a:off x="4334256" y="4709160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0" name="Step number 2"/>
          <p:cNvSpPr/>
          <p:nvPr/>
        </p:nvSpPr>
        <p:spPr>
          <a:xfrm>
            <a:off x="4517136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Step digit 2"/>
          <p:cNvSpPr txBox="1"/>
          <p:nvPr/>
        </p:nvSpPr>
        <p:spPr>
          <a:xfrm>
            <a:off x="4517136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2" name="Step text 2"/>
          <p:cNvSpPr txBox="1"/>
          <p:nvPr/>
        </p:nvSpPr>
        <p:spPr>
          <a:xfrm>
            <a:off x="5157216" y="48006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Interpret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 is linked to medication timing, the care plan and appointments to reveal patterns.</a:t>
            </a:r>
            <a:endParaRPr lang="en-US" sz="1600" dirty="0"/>
          </a:p>
        </p:txBody>
      </p:sp>
      <p:sp>
        <p:nvSpPr>
          <p:cNvPr id="33" name="Step 3"/>
          <p:cNvSpPr/>
          <p:nvPr/>
        </p:nvSpPr>
        <p:spPr>
          <a:xfrm>
            <a:off x="8119872" y="4709160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4" name="Step number 3"/>
          <p:cNvSpPr/>
          <p:nvPr/>
        </p:nvSpPr>
        <p:spPr>
          <a:xfrm>
            <a:off x="8302752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Step digit 3"/>
          <p:cNvSpPr txBox="1"/>
          <p:nvPr/>
        </p:nvSpPr>
        <p:spPr>
          <a:xfrm>
            <a:off x="830275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6" name="Step text 3"/>
          <p:cNvSpPr txBox="1"/>
          <p:nvPr/>
        </p:nvSpPr>
        <p:spPr>
          <a:xfrm>
            <a:off x="8942832" y="48006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Predefined warning signs reach the care team for review, with weekly summaries.</a:t>
            </a:r>
            <a:endParaRPr lang="en-US" sz="16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DATA SOURCE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Passive Tremor and Fall Sensing Feeds the Platform</a:t>
            </a:r>
            <a:endParaRPr lang="en-US" sz="3200" dirty="0"/>
          </a:p>
        </p:txBody>
      </p:sp>
      <p:sp>
        <p:nvSpPr>
          <p:cNvPr id="4" name="Tremor analysis panel"/>
          <p:cNvSpPr/>
          <p:nvPr/>
        </p:nvSpPr>
        <p:spPr>
          <a:xfrm>
            <a:off x="548640" y="1508760"/>
            <a:ext cx="544068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remor analysis badge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remor analysis icon" descr="Tremor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815084"/>
            <a:ext cx="210312" cy="210312"/>
          </a:xfrm>
          <a:prstGeom prst="rect">
            <a:avLst/>
          </a:prstGeom>
        </p:spPr>
      </p:pic>
      <p:sp>
        <p:nvSpPr>
          <p:cNvPr id="7" name="Tremor analysis header"/>
          <p:cNvSpPr txBox="1"/>
          <p:nvPr/>
        </p:nvSpPr>
        <p:spPr>
          <a:xfrm>
            <a:off x="141732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Tremor analysis</a:t>
            </a:r>
            <a:endParaRPr lang="en-US" sz="2000" dirty="0"/>
          </a:p>
        </p:txBody>
      </p:sp>
      <p:sp>
        <p:nvSpPr>
          <p:cNvPr id="8" name="Tremor analysis num 1"/>
          <p:cNvSpPr/>
          <p:nvPr/>
        </p:nvSpPr>
        <p:spPr>
          <a:xfrm>
            <a:off x="777240" y="2532888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9" name="Tremor analysis digit 1"/>
          <p:cNvSpPr txBox="1"/>
          <p:nvPr/>
        </p:nvSpPr>
        <p:spPr>
          <a:xfrm>
            <a:off x="77724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remor analysis step 1"/>
          <p:cNvSpPr txBox="1"/>
          <p:nvPr/>
        </p:nvSpPr>
        <p:spPr>
          <a:xfrm>
            <a:off x="1371600" y="23774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Capture: </a:t>
            </a:r>
            <a:r>
              <a:rPr lang="en-US" sz="1400" dirty="0">
                <a:solidFill>
                  <a:schemeClr val="accent5"/>
                </a:solidFill>
              </a:rPr>
              <a:t>Motion signal is split into short analysis windows.</a:t>
            </a:r>
            <a:endParaRPr lang="en-US" sz="1400" dirty="0"/>
          </a:p>
        </p:txBody>
      </p:sp>
      <p:sp>
        <p:nvSpPr>
          <p:cNvPr id="11" name="Tremor analysis num 2"/>
          <p:cNvSpPr/>
          <p:nvPr/>
        </p:nvSpPr>
        <p:spPr>
          <a:xfrm>
            <a:off x="777240" y="3346704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2" name="Tremor analysis digit 2"/>
          <p:cNvSpPr txBox="1"/>
          <p:nvPr/>
        </p:nvSpPr>
        <p:spPr>
          <a:xfrm>
            <a:off x="77724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remor analysis step 2"/>
          <p:cNvSpPr txBox="1"/>
          <p:nvPr/>
        </p:nvSpPr>
        <p:spPr>
          <a:xfrm>
            <a:off x="1371600" y="319125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Transform: </a:t>
            </a:r>
            <a:r>
              <a:rPr lang="en-US" sz="1400" dirty="0">
                <a:solidFill>
                  <a:schemeClr val="accent5"/>
                </a:solidFill>
              </a:rPr>
              <a:t>A Hamming window and FFT convert each window to a frequency spectrum.</a:t>
            </a:r>
            <a:endParaRPr lang="en-US" sz="1400" dirty="0"/>
          </a:p>
        </p:txBody>
      </p:sp>
      <p:sp>
        <p:nvSpPr>
          <p:cNvPr id="14" name="Tremor analysis num 3"/>
          <p:cNvSpPr/>
          <p:nvPr/>
        </p:nvSpPr>
        <p:spPr>
          <a:xfrm>
            <a:off x="777240" y="4160520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5" name="Tremor analysis digit 3"/>
          <p:cNvSpPr txBox="1"/>
          <p:nvPr/>
        </p:nvSpPr>
        <p:spPr>
          <a:xfrm>
            <a:off x="7772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remor analysis step 3"/>
          <p:cNvSpPr txBox="1"/>
          <p:nvPr/>
        </p:nvSpPr>
        <p:spPr>
          <a:xfrm>
            <a:off x="1371600" y="400507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Measure: </a:t>
            </a:r>
            <a:r>
              <a:rPr lang="en-US" sz="1400" dirty="0">
                <a:solidFill>
                  <a:schemeClr val="accent5"/>
                </a:solidFill>
              </a:rPr>
              <a:t>Energy in the 3.5–7 Hz band is tracked (typical PD rest tremor: 4–6 Hz).</a:t>
            </a:r>
            <a:endParaRPr lang="en-US" sz="1400" dirty="0"/>
          </a:p>
        </p:txBody>
      </p:sp>
      <p:sp>
        <p:nvSpPr>
          <p:cNvPr id="17" name="Tremor analysis num 4"/>
          <p:cNvSpPr/>
          <p:nvPr/>
        </p:nvSpPr>
        <p:spPr>
          <a:xfrm>
            <a:off x="777240" y="4974336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8" name="Tremor analysis digit 4"/>
          <p:cNvSpPr txBox="1"/>
          <p:nvPr/>
        </p:nvSpPr>
        <p:spPr>
          <a:xfrm>
            <a:off x="777240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remor analysis step 4"/>
          <p:cNvSpPr txBox="1"/>
          <p:nvPr/>
        </p:nvSpPr>
        <p:spPr>
          <a:xfrm>
            <a:off x="1371600" y="481888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Score: </a:t>
            </a:r>
            <a:r>
              <a:rPr lang="en-US" sz="1400" dirty="0">
                <a:solidFill>
                  <a:schemeClr val="accent5"/>
                </a:solidFill>
              </a:rPr>
              <a:t>A timestamped severity score is logged for trends and dose linkage.</a:t>
            </a:r>
            <a:endParaRPr lang="en-US" sz="1400" dirty="0"/>
          </a:p>
        </p:txBody>
      </p:sp>
      <p:sp>
        <p:nvSpPr>
          <p:cNvPr id="20" name="Fall detection panel"/>
          <p:cNvSpPr/>
          <p:nvPr/>
        </p:nvSpPr>
        <p:spPr>
          <a:xfrm>
            <a:off x="6199632" y="1508760"/>
            <a:ext cx="544068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21" name="Fall detection badge"/>
          <p:cNvSpPr/>
          <p:nvPr/>
        </p:nvSpPr>
        <p:spPr>
          <a:xfrm>
            <a:off x="6428232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Fall detection icon" descr="Fall dete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1815084"/>
            <a:ext cx="210312" cy="210312"/>
          </a:xfrm>
          <a:prstGeom prst="rect">
            <a:avLst/>
          </a:prstGeom>
        </p:spPr>
      </p:pic>
      <p:sp>
        <p:nvSpPr>
          <p:cNvPr id="23" name="Fall detection header"/>
          <p:cNvSpPr txBox="1"/>
          <p:nvPr/>
        </p:nvSpPr>
        <p:spPr>
          <a:xfrm>
            <a:off x="7068312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Fall detection</a:t>
            </a:r>
            <a:endParaRPr lang="en-US" sz="2000" dirty="0"/>
          </a:p>
        </p:txBody>
      </p:sp>
      <p:sp>
        <p:nvSpPr>
          <p:cNvPr id="24" name="Fall detection num 1"/>
          <p:cNvSpPr/>
          <p:nvPr/>
        </p:nvSpPr>
        <p:spPr>
          <a:xfrm>
            <a:off x="6428232" y="2532888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Fall detection digit 1"/>
          <p:cNvSpPr txBox="1"/>
          <p:nvPr/>
        </p:nvSpPr>
        <p:spPr>
          <a:xfrm>
            <a:off x="6428232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Fall detection step 1"/>
          <p:cNvSpPr txBox="1"/>
          <p:nvPr/>
        </p:nvSpPr>
        <p:spPr>
          <a:xfrm>
            <a:off x="7022592" y="23774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Idle: </a:t>
            </a:r>
            <a:r>
              <a:rPr lang="en-US" sz="1400" dirty="0">
                <a:solidFill>
                  <a:schemeClr val="accent5"/>
                </a:solidFill>
              </a:rPr>
              <a:t>Motion magnitude is monitored; free-fall is flagged below 0.35g.</a:t>
            </a:r>
            <a:endParaRPr lang="en-US" sz="1400" dirty="0"/>
          </a:p>
        </p:txBody>
      </p:sp>
      <p:sp>
        <p:nvSpPr>
          <p:cNvPr id="27" name="Fall detection num 2"/>
          <p:cNvSpPr/>
          <p:nvPr/>
        </p:nvSpPr>
        <p:spPr>
          <a:xfrm>
            <a:off x="6428232" y="3346704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8" name="Fall detection digit 2"/>
          <p:cNvSpPr txBox="1"/>
          <p:nvPr/>
        </p:nvSpPr>
        <p:spPr>
          <a:xfrm>
            <a:off x="6428232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Fall detection step 2"/>
          <p:cNvSpPr txBox="1"/>
          <p:nvPr/>
        </p:nvSpPr>
        <p:spPr>
          <a:xfrm>
            <a:off x="7022592" y="319125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Free-fall: </a:t>
            </a:r>
            <a:r>
              <a:rPr lang="en-US" sz="1400" dirty="0">
                <a:solidFill>
                  <a:schemeClr val="accent5"/>
                </a:solidFill>
              </a:rPr>
              <a:t>Within 100–500 ms, an impact above 2.5g and rotation above 120°/s is checked.</a:t>
            </a:r>
            <a:endParaRPr lang="en-US" sz="1400" dirty="0"/>
          </a:p>
        </p:txBody>
      </p:sp>
      <p:sp>
        <p:nvSpPr>
          <p:cNvPr id="30" name="Fall detection num 3"/>
          <p:cNvSpPr/>
          <p:nvPr/>
        </p:nvSpPr>
        <p:spPr>
          <a:xfrm>
            <a:off x="6428232" y="4160520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1" name="Fall detection digit 3"/>
          <p:cNvSpPr txBox="1"/>
          <p:nvPr/>
        </p:nvSpPr>
        <p:spPr>
          <a:xfrm>
            <a:off x="6428232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Fall detection step 3"/>
          <p:cNvSpPr txBox="1"/>
          <p:nvPr/>
        </p:nvSpPr>
        <p:spPr>
          <a:xfrm>
            <a:off x="7022592" y="400507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Confirm: </a:t>
            </a:r>
            <a:r>
              <a:rPr lang="en-US" sz="1400" dirty="0">
                <a:solidFill>
                  <a:schemeClr val="accent5"/>
                </a:solidFill>
              </a:rPr>
              <a:t>A 3-second confirmation window limits false alarms.</a:t>
            </a:r>
            <a:endParaRPr lang="en-US" sz="1400" dirty="0"/>
          </a:p>
        </p:txBody>
      </p:sp>
      <p:sp>
        <p:nvSpPr>
          <p:cNvPr id="33" name="Fall detection num 4"/>
          <p:cNvSpPr/>
          <p:nvPr/>
        </p:nvSpPr>
        <p:spPr>
          <a:xfrm>
            <a:off x="6428232" y="4974336"/>
            <a:ext cx="365760" cy="36576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4" name="Fall detection digit 4"/>
          <p:cNvSpPr txBox="1"/>
          <p:nvPr/>
        </p:nvSpPr>
        <p:spPr>
          <a:xfrm>
            <a:off x="6428232" y="4974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Fall detection step 4"/>
          <p:cNvSpPr txBox="1"/>
          <p:nvPr/>
        </p:nvSpPr>
        <p:spPr>
          <a:xfrm>
            <a:off x="7022592" y="481888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 and escalate: </a:t>
            </a:r>
            <a:r>
              <a:rPr lang="en-US" sz="1400" dirty="0">
                <a:solidFill>
                  <a:schemeClr val="accent5"/>
                </a:solidFill>
              </a:rPr>
              <a:t>Confirmed falls are recorded and sent as an urgent alert.</a:t>
            </a:r>
            <a:endParaRPr lang="en-US" sz="1400" dirty="0"/>
          </a:p>
        </p:txBody>
      </p:sp>
      <p:sp>
        <p:nvSpPr>
          <p:cNvPr id="36" name="Takeaway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37" name="Takeaway text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These signals are the data source. The product is what the platform does with them.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KEY DIFFERENTIATOR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Medication Coordination: Linking Doses to Symptoms</a:t>
            </a:r>
            <a:endParaRPr lang="en-US" sz="3200" dirty="0"/>
          </a:p>
        </p:txBody>
      </p:sp>
      <p:sp>
        <p:nvSpPr>
          <p:cNvPr id="4" name="Chart panel"/>
          <p:cNvSpPr/>
          <p:nvPr/>
        </p:nvSpPr>
        <p:spPr>
          <a:xfrm>
            <a:off x="548640" y="1508760"/>
            <a:ext cx="658368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731520" y="1645920"/>
          <a:ext cx="62179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chedules and reminders card"/>
          <p:cNvSpPr/>
          <p:nvPr/>
        </p:nvSpPr>
        <p:spPr>
          <a:xfrm>
            <a:off x="7360920" y="1508760"/>
            <a:ext cx="4279392" cy="1243584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7" name="Schedules and reminders badge"/>
          <p:cNvSpPr/>
          <p:nvPr/>
        </p:nvSpPr>
        <p:spPr>
          <a:xfrm>
            <a:off x="7562088" y="18562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Schedules and reminders icon" descr="Schedules and remind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221" y="2004365"/>
            <a:ext cx="252374" cy="252374"/>
          </a:xfrm>
          <a:prstGeom prst="rect">
            <a:avLst/>
          </a:prstGeom>
        </p:spPr>
      </p:pic>
      <p:sp>
        <p:nvSpPr>
          <p:cNvPr id="9" name="Schedules and reminders text"/>
          <p:cNvSpPr txBox="1"/>
          <p:nvPr/>
        </p:nvSpPr>
        <p:spPr>
          <a:xfrm>
            <a:off x="8275320" y="1554480"/>
            <a:ext cx="31821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Schedules and reminders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Dose times set with the care team.</a:t>
            </a:r>
            <a:endParaRPr lang="en-US" sz="1600" dirty="0"/>
          </a:p>
        </p:txBody>
      </p:sp>
      <p:sp>
        <p:nvSpPr>
          <p:cNvPr id="10" name="Adherence logging card"/>
          <p:cNvSpPr/>
          <p:nvPr/>
        </p:nvSpPr>
        <p:spPr>
          <a:xfrm>
            <a:off x="7360920" y="2898648"/>
            <a:ext cx="4279392" cy="1243584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1" name="Adherence logging badge"/>
          <p:cNvSpPr/>
          <p:nvPr/>
        </p:nvSpPr>
        <p:spPr>
          <a:xfrm>
            <a:off x="7562088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dherence logging icon" descr="Adherence logg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221" y="3394253"/>
            <a:ext cx="252374" cy="252374"/>
          </a:xfrm>
          <a:prstGeom prst="rect">
            <a:avLst/>
          </a:prstGeom>
        </p:spPr>
      </p:pic>
      <p:sp>
        <p:nvSpPr>
          <p:cNvPr id="13" name="Adherence logging text"/>
          <p:cNvSpPr txBox="1"/>
          <p:nvPr/>
        </p:nvSpPr>
        <p:spPr>
          <a:xfrm>
            <a:off x="8275320" y="2944368"/>
            <a:ext cx="31821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Adherence logging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Taken, late and missed doses recorded.</a:t>
            </a:r>
            <a:endParaRPr lang="en-US" sz="1600" dirty="0"/>
          </a:p>
        </p:txBody>
      </p:sp>
      <p:sp>
        <p:nvSpPr>
          <p:cNvPr id="14" name="Dose–tremor correlation card"/>
          <p:cNvSpPr/>
          <p:nvPr/>
        </p:nvSpPr>
        <p:spPr>
          <a:xfrm>
            <a:off x="7360920" y="4288536"/>
            <a:ext cx="4279392" cy="1243584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5" name="Dose–tremor correlation badge"/>
          <p:cNvSpPr/>
          <p:nvPr/>
        </p:nvSpPr>
        <p:spPr>
          <a:xfrm>
            <a:off x="7562088" y="46360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Dose–tremor correlation icon" descr="Dose–tremor correl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0221" y="4784141"/>
            <a:ext cx="252374" cy="252374"/>
          </a:xfrm>
          <a:prstGeom prst="rect">
            <a:avLst/>
          </a:prstGeom>
        </p:spPr>
      </p:pic>
      <p:sp>
        <p:nvSpPr>
          <p:cNvPr id="17" name="Dose–tremor correlation text"/>
          <p:cNvSpPr txBox="1"/>
          <p:nvPr/>
        </p:nvSpPr>
        <p:spPr>
          <a:xfrm>
            <a:off x="8275320" y="4334256"/>
            <a:ext cx="31821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Dose–tremor correlation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Symptom patterns shown against dose timing.</a:t>
            </a:r>
            <a:endParaRPr lang="en-US" sz="1600" dirty="0"/>
          </a:p>
        </p:txBody>
      </p:sp>
      <p:sp>
        <p:nvSpPr>
          <p:cNvPr id="18" name="Insight bar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9" name="Insight text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Clinician insight: “Tremor rises about 3 hours after the morning dose on most days this week.”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PERSONALIZATION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Daily Check-ins and a Personalized Care Plan</a:t>
            </a:r>
            <a:endParaRPr lang="en-US" sz="3200" dirty="0"/>
          </a:p>
        </p:txBody>
      </p:sp>
      <p:sp>
        <p:nvSpPr>
          <p:cNvPr id="4" name="Section header"/>
          <p:cNvSpPr txBox="1"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Quick patient-reported check-ins</a:t>
            </a:r>
            <a:endParaRPr lang="en-US" sz="1800" dirty="0"/>
          </a:p>
        </p:txBody>
      </p:sp>
      <p:sp>
        <p:nvSpPr>
          <p:cNvPr id="5" name="Check-in Mood"/>
          <p:cNvSpPr/>
          <p:nvPr/>
        </p:nvSpPr>
        <p:spPr>
          <a:xfrm>
            <a:off x="548640" y="21031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6" name="Mood badge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Mood icon" descr="Moo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479853"/>
            <a:ext cx="252374" cy="252374"/>
          </a:xfrm>
          <a:prstGeom prst="rect">
            <a:avLst/>
          </a:prstGeom>
        </p:spPr>
      </p:pic>
      <p:sp>
        <p:nvSpPr>
          <p:cNvPr id="8" name="Mood label"/>
          <p:cNvSpPr txBox="1"/>
          <p:nvPr/>
        </p:nvSpPr>
        <p:spPr>
          <a:xfrm>
            <a:off x="77724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Mood</a:t>
            </a:r>
            <a:endParaRPr lang="en-US" sz="1800" dirty="0"/>
          </a:p>
        </p:txBody>
      </p:sp>
      <p:sp>
        <p:nvSpPr>
          <p:cNvPr id="9" name="Check-in Sleep"/>
          <p:cNvSpPr/>
          <p:nvPr/>
        </p:nvSpPr>
        <p:spPr>
          <a:xfrm>
            <a:off x="3337560" y="210312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Sleep badge"/>
          <p:cNvSpPr/>
          <p:nvPr/>
        </p:nvSpPr>
        <p:spPr>
          <a:xfrm>
            <a:off x="3566160" y="2331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leep icon" descr="Sle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293" y="2479853"/>
            <a:ext cx="252374" cy="252374"/>
          </a:xfrm>
          <a:prstGeom prst="rect">
            <a:avLst/>
          </a:prstGeom>
        </p:spPr>
      </p:pic>
      <p:sp>
        <p:nvSpPr>
          <p:cNvPr id="12" name="Sleep label"/>
          <p:cNvSpPr txBox="1"/>
          <p:nvPr/>
        </p:nvSpPr>
        <p:spPr>
          <a:xfrm>
            <a:off x="356616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Sleep</a:t>
            </a:r>
            <a:endParaRPr lang="en-US" sz="1800" dirty="0"/>
          </a:p>
        </p:txBody>
      </p:sp>
      <p:sp>
        <p:nvSpPr>
          <p:cNvPr id="13" name="Check-in Stiffness"/>
          <p:cNvSpPr/>
          <p:nvPr/>
        </p:nvSpPr>
        <p:spPr>
          <a:xfrm>
            <a:off x="548640" y="365760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Stiffness badge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tiffness icon" descr="Stiffne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034333"/>
            <a:ext cx="252374" cy="252374"/>
          </a:xfrm>
          <a:prstGeom prst="rect">
            <a:avLst/>
          </a:prstGeom>
        </p:spPr>
      </p:pic>
      <p:sp>
        <p:nvSpPr>
          <p:cNvPr id="16" name="Stiffness label"/>
          <p:cNvSpPr txBox="1"/>
          <p:nvPr/>
        </p:nvSpPr>
        <p:spPr>
          <a:xfrm>
            <a:off x="77724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Stiffness</a:t>
            </a:r>
            <a:endParaRPr lang="en-US" sz="1800" dirty="0"/>
          </a:p>
        </p:txBody>
      </p:sp>
      <p:sp>
        <p:nvSpPr>
          <p:cNvPr id="17" name="Check-in On / off periods"/>
          <p:cNvSpPr/>
          <p:nvPr/>
        </p:nvSpPr>
        <p:spPr>
          <a:xfrm>
            <a:off x="3337560" y="365760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8" name="On / off periods badge"/>
          <p:cNvSpPr/>
          <p:nvPr/>
        </p:nvSpPr>
        <p:spPr>
          <a:xfrm>
            <a:off x="3566160" y="3886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On / off periods icon" descr="On / off period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293" y="4034333"/>
            <a:ext cx="252374" cy="252374"/>
          </a:xfrm>
          <a:prstGeom prst="rect">
            <a:avLst/>
          </a:prstGeom>
        </p:spPr>
      </p:pic>
      <p:sp>
        <p:nvSpPr>
          <p:cNvPr id="20" name="On / off periods label"/>
          <p:cNvSpPr txBox="1"/>
          <p:nvPr/>
        </p:nvSpPr>
        <p:spPr>
          <a:xfrm>
            <a:off x="356616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 / off periods</a:t>
            </a:r>
            <a:endParaRPr lang="en-US" sz="1800" dirty="0"/>
          </a:p>
        </p:txBody>
      </p:sp>
      <p:sp>
        <p:nvSpPr>
          <p:cNvPr id="21" name="Check-in note"/>
          <p:cNvSpPr/>
          <p:nvPr/>
        </p:nvSpPr>
        <p:spPr>
          <a:xfrm>
            <a:off x="548640" y="525780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22" name="Check-in note text"/>
          <p:cNvSpPr txBox="1"/>
          <p:nvPr/>
        </p:nvSpPr>
        <p:spPr>
          <a:xfrm>
            <a:off x="777240" y="52578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Takes under a minute. Answers feed the clinician summary and the risk logic.</a:t>
            </a:r>
            <a:endParaRPr lang="en-US" sz="1600" dirty="0"/>
          </a:p>
        </p:txBody>
      </p:sp>
      <p:sp>
        <p:nvSpPr>
          <p:cNvPr id="23" name="Section header"/>
          <p:cNvSpPr txBox="1"/>
          <p:nvPr/>
        </p:nvSpPr>
        <p:spPr>
          <a:xfrm>
            <a:off x="6263640" y="15087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Care plan adapted to the patient</a:t>
            </a:r>
            <a:endParaRPr lang="en-US" sz="1800" dirty="0"/>
          </a:p>
        </p:txBody>
      </p:sp>
      <p:sp>
        <p:nvSpPr>
          <p:cNvPr id="24" name="Doctor's instructions card"/>
          <p:cNvSpPr/>
          <p:nvPr/>
        </p:nvSpPr>
        <p:spPr>
          <a:xfrm>
            <a:off x="6263640" y="2103120"/>
            <a:ext cx="53766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5" name="Doctor's instructions badge"/>
          <p:cNvSpPr/>
          <p:nvPr/>
        </p:nvSpPr>
        <p:spPr>
          <a:xfrm>
            <a:off x="6464808" y="2286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Doctor's instructions icon" descr="Doctor's instruction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2941" y="2434133"/>
            <a:ext cx="252374" cy="252374"/>
          </a:xfrm>
          <a:prstGeom prst="rect">
            <a:avLst/>
          </a:prstGeom>
        </p:spPr>
      </p:pic>
      <p:sp>
        <p:nvSpPr>
          <p:cNvPr id="27" name="Doctor's instructions text"/>
          <p:cNvSpPr txBox="1"/>
          <p:nvPr/>
        </p:nvSpPr>
        <p:spPr>
          <a:xfrm>
            <a:off x="7178040" y="214884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Doctor's instructions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Neurologist's plan turned into clear daily steps.</a:t>
            </a:r>
            <a:endParaRPr lang="en-US" sz="1600" dirty="0"/>
          </a:p>
        </p:txBody>
      </p:sp>
      <p:sp>
        <p:nvSpPr>
          <p:cNvPr id="28" name="Lives alone card"/>
          <p:cNvSpPr/>
          <p:nvPr/>
        </p:nvSpPr>
        <p:spPr>
          <a:xfrm>
            <a:off x="6263640" y="3127248"/>
            <a:ext cx="53766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9" name="Lives alone badge"/>
          <p:cNvSpPr/>
          <p:nvPr/>
        </p:nvSpPr>
        <p:spPr>
          <a:xfrm>
            <a:off x="6464808" y="33101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Lives alone icon" descr="Lives alo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941" y="3458261"/>
            <a:ext cx="252374" cy="252374"/>
          </a:xfrm>
          <a:prstGeom prst="rect">
            <a:avLst/>
          </a:prstGeom>
        </p:spPr>
      </p:pic>
      <p:sp>
        <p:nvSpPr>
          <p:cNvPr id="31" name="Lives alone text"/>
          <p:cNvSpPr txBox="1"/>
          <p:nvPr/>
        </p:nvSpPr>
        <p:spPr>
          <a:xfrm>
            <a:off x="7178040" y="3172968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Lives alone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Stronger fall escalation and proactive check-ins.</a:t>
            </a:r>
            <a:endParaRPr lang="en-US" sz="1600" dirty="0"/>
          </a:p>
        </p:txBody>
      </p:sp>
      <p:sp>
        <p:nvSpPr>
          <p:cNvPr id="32" name="Caregiver available card"/>
          <p:cNvSpPr/>
          <p:nvPr/>
        </p:nvSpPr>
        <p:spPr>
          <a:xfrm>
            <a:off x="6263640" y="4151376"/>
            <a:ext cx="53766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33" name="Caregiver available badge"/>
          <p:cNvSpPr/>
          <p:nvPr/>
        </p:nvSpPr>
        <p:spPr>
          <a:xfrm>
            <a:off x="6464808" y="433425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Caregiver available icon" descr="Caregiver availab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2941" y="4482389"/>
            <a:ext cx="252374" cy="252374"/>
          </a:xfrm>
          <a:prstGeom prst="rect">
            <a:avLst/>
          </a:prstGeom>
        </p:spPr>
      </p:pic>
      <p:sp>
        <p:nvSpPr>
          <p:cNvPr id="35" name="Caregiver available text"/>
          <p:cNvSpPr txBox="1"/>
          <p:nvPr/>
        </p:nvSpPr>
        <p:spPr>
          <a:xfrm>
            <a:off x="7178040" y="4197096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Caregiver available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Tasks and alerts shared with the right person.</a:t>
            </a:r>
            <a:endParaRPr lang="en-US" sz="1600" dirty="0"/>
          </a:p>
        </p:txBody>
      </p:sp>
      <p:sp>
        <p:nvSpPr>
          <p:cNvPr id="36" name="Limited mobility card"/>
          <p:cNvSpPr/>
          <p:nvPr/>
        </p:nvSpPr>
        <p:spPr>
          <a:xfrm>
            <a:off x="6263640" y="5175504"/>
            <a:ext cx="53766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37" name="Limited mobility badge"/>
          <p:cNvSpPr/>
          <p:nvPr/>
        </p:nvSpPr>
        <p:spPr>
          <a:xfrm>
            <a:off x="6464808" y="53583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Limited mobility icon" descr="Limited mobilit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2941" y="5506517"/>
            <a:ext cx="252374" cy="252374"/>
          </a:xfrm>
          <a:prstGeom prst="rect">
            <a:avLst/>
          </a:prstGeom>
        </p:spPr>
      </p:pic>
      <p:sp>
        <p:nvSpPr>
          <p:cNvPr id="39" name="Limited mobility text"/>
          <p:cNvSpPr txBox="1"/>
          <p:nvPr/>
        </p:nvSpPr>
        <p:spPr>
          <a:xfrm>
            <a:off x="7178040" y="5221224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Limited mobility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Remote follow-up favored over travel.</a:t>
            </a:r>
            <a:endParaRPr lang="en-US" sz="16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PROACTIVE LOGIC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Follow-up Gap Detection and Early Risk Flags</a:t>
            </a:r>
            <a:endParaRPr lang="en-US" sz="3200" dirty="0"/>
          </a:p>
        </p:txBody>
      </p:sp>
      <p:sp>
        <p:nvSpPr>
          <p:cNvPr id="4" name="Section header"/>
          <p:cNvSpPr txBox="1"/>
          <p:nvPr/>
        </p:nvSpPr>
        <p:spPr>
          <a:xfrm>
            <a:off x="5486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Follow-up gap detection</a:t>
            </a:r>
            <a:endParaRPr lang="en-US" sz="1800" dirty="0"/>
          </a:p>
        </p:txBody>
      </p:sp>
      <p:sp>
        <p:nvSpPr>
          <p:cNvPr id="5" name="Visit tracking card"/>
          <p:cNvSpPr/>
          <p:nvPr/>
        </p:nvSpPr>
        <p:spPr>
          <a:xfrm>
            <a:off x="548640" y="2103120"/>
            <a:ext cx="512064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6" name="Visit tracking badge"/>
          <p:cNvSpPr/>
          <p:nvPr/>
        </p:nvSpPr>
        <p:spPr>
          <a:xfrm>
            <a:off x="749808" y="232257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Visit tracking icon" descr="Visit trac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470709"/>
            <a:ext cx="252374" cy="252374"/>
          </a:xfrm>
          <a:prstGeom prst="rect">
            <a:avLst/>
          </a:prstGeom>
        </p:spPr>
      </p:pic>
      <p:sp>
        <p:nvSpPr>
          <p:cNvPr id="8" name="Visit tracking text"/>
          <p:cNvSpPr txBox="1"/>
          <p:nvPr/>
        </p:nvSpPr>
        <p:spPr>
          <a:xfrm>
            <a:off x="1463040" y="2148840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Visit tracking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Neurologist visits and recommended tests tracked per patient.</a:t>
            </a:r>
            <a:endParaRPr lang="en-US" sz="1600" dirty="0"/>
          </a:p>
        </p:txBody>
      </p:sp>
      <p:sp>
        <p:nvSpPr>
          <p:cNvPr id="9" name="Overdue detection card"/>
          <p:cNvSpPr/>
          <p:nvPr/>
        </p:nvSpPr>
        <p:spPr>
          <a:xfrm>
            <a:off x="548640" y="3200400"/>
            <a:ext cx="512064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0" name="Overdue detection badge"/>
          <p:cNvSpPr/>
          <p:nvPr/>
        </p:nvSpPr>
        <p:spPr>
          <a:xfrm>
            <a:off x="749808" y="341985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Overdue detection icon" descr="Overdue dete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567989"/>
            <a:ext cx="252374" cy="252374"/>
          </a:xfrm>
          <a:prstGeom prst="rect">
            <a:avLst/>
          </a:prstGeom>
        </p:spPr>
      </p:pic>
      <p:sp>
        <p:nvSpPr>
          <p:cNvPr id="12" name="Overdue detection text"/>
          <p:cNvSpPr txBox="1"/>
          <p:nvPr/>
        </p:nvSpPr>
        <p:spPr>
          <a:xfrm>
            <a:off x="1463040" y="3246120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Overdue detection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Tests and reviews past due are flagged to the care team.</a:t>
            </a:r>
            <a:endParaRPr lang="en-US" sz="1600" dirty="0"/>
          </a:p>
        </p:txBody>
      </p:sp>
      <p:sp>
        <p:nvSpPr>
          <p:cNvPr id="13" name="Missed appointments card"/>
          <p:cNvSpPr/>
          <p:nvPr/>
        </p:nvSpPr>
        <p:spPr>
          <a:xfrm>
            <a:off x="548640" y="4297680"/>
            <a:ext cx="512064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4" name="Missed appointments badge"/>
          <p:cNvSpPr/>
          <p:nvPr/>
        </p:nvSpPr>
        <p:spPr>
          <a:xfrm>
            <a:off x="749808" y="451713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Missed appointments icon" descr="Missed appointme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665269"/>
            <a:ext cx="252374" cy="252374"/>
          </a:xfrm>
          <a:prstGeom prst="rect">
            <a:avLst/>
          </a:prstGeom>
        </p:spPr>
      </p:pic>
      <p:sp>
        <p:nvSpPr>
          <p:cNvPr id="16" name="Missed appointments text"/>
          <p:cNvSpPr txBox="1"/>
          <p:nvPr/>
        </p:nvSpPr>
        <p:spPr>
          <a:xfrm>
            <a:off x="1463040" y="4343400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Missed appointments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Detected automatically, with a prompt to rebook.</a:t>
            </a:r>
            <a:endParaRPr lang="en-US" sz="1600" dirty="0"/>
          </a:p>
        </p:txBody>
      </p:sp>
      <p:sp>
        <p:nvSpPr>
          <p:cNvPr id="17" name="Section header"/>
          <p:cNvSpPr txBox="1"/>
          <p:nvPr/>
        </p:nvSpPr>
        <p:spPr>
          <a:xfrm>
            <a:off x="598932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Predicting a difficult week</a:t>
            </a:r>
            <a:endParaRPr lang="en-US" sz="1800" dirty="0"/>
          </a:p>
        </p:txBody>
      </p:sp>
      <p:sp>
        <p:nvSpPr>
          <p:cNvPr id="18" name="Signal 1"/>
          <p:cNvSpPr/>
          <p:nvPr/>
        </p:nvSpPr>
        <p:spPr>
          <a:xfrm>
            <a:off x="5989320" y="2103120"/>
            <a:ext cx="265176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9" name="Signal text 1"/>
          <p:cNvSpPr txBox="1"/>
          <p:nvPr/>
        </p:nvSpPr>
        <p:spPr>
          <a:xfrm>
            <a:off x="6172200" y="210312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Rising tremor trend</a:t>
            </a:r>
            <a:endParaRPr lang="en-US" sz="1600" dirty="0"/>
          </a:p>
        </p:txBody>
      </p:sp>
      <p:sp>
        <p:nvSpPr>
          <p:cNvPr id="20" name="Signal 2"/>
          <p:cNvSpPr/>
          <p:nvPr/>
        </p:nvSpPr>
        <p:spPr>
          <a:xfrm>
            <a:off x="5989320" y="3200400"/>
            <a:ext cx="265176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1" name="Signal text 2"/>
          <p:cNvSpPr txBox="1"/>
          <p:nvPr/>
        </p:nvSpPr>
        <p:spPr>
          <a:xfrm>
            <a:off x="6172200" y="320040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Missed levodopa doses</a:t>
            </a:r>
            <a:endParaRPr lang="en-US" sz="1600" dirty="0"/>
          </a:p>
        </p:txBody>
      </p:sp>
      <p:sp>
        <p:nvSpPr>
          <p:cNvPr id="22" name="Signal 3"/>
          <p:cNvSpPr/>
          <p:nvPr/>
        </p:nvSpPr>
        <p:spPr>
          <a:xfrm>
            <a:off x="5989320" y="4297680"/>
            <a:ext cx="265176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3" name="Signal text 3"/>
          <p:cNvSpPr txBox="1"/>
          <p:nvPr/>
        </p:nvSpPr>
        <p:spPr>
          <a:xfrm>
            <a:off x="6172200" y="4297680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More “off” time reported</a:t>
            </a:r>
            <a:endParaRPr lang="en-US" sz="1600" dirty="0"/>
          </a:p>
        </p:txBody>
      </p:sp>
      <p:sp>
        <p:nvSpPr>
          <p:cNvPr id="24" name="Arrow"/>
          <p:cNvSpPr/>
          <p:nvPr/>
        </p:nvSpPr>
        <p:spPr>
          <a:xfrm>
            <a:off x="8778240" y="3246120"/>
            <a:ext cx="502920" cy="5029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Result card"/>
          <p:cNvSpPr/>
          <p:nvPr/>
        </p:nvSpPr>
        <p:spPr>
          <a:xfrm>
            <a:off x="9418320" y="2103120"/>
            <a:ext cx="2221992" cy="3182112"/>
          </a:xfrm>
          <a:prstGeom prst="roundRect">
            <a:avLst>
              <a:gd name="adj" fmla="val 4938"/>
            </a:avLst>
          </a:prstGeom>
          <a:solidFill>
            <a:schemeClr val="accent1"/>
          </a:solidFill>
          <a:ln/>
        </p:spPr>
      </p:sp>
      <p:sp>
        <p:nvSpPr>
          <p:cNvPr id="26" name="Risk flag badge"/>
          <p:cNvSpPr/>
          <p:nvPr/>
        </p:nvSpPr>
        <p:spPr>
          <a:xfrm>
            <a:off x="10241280" y="2743200"/>
            <a:ext cx="576072" cy="57607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7" name="Risk flag icon" descr="Risk fla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6728" y="2898648"/>
            <a:ext cx="265176" cy="265176"/>
          </a:xfrm>
          <a:prstGeom prst="rect">
            <a:avLst/>
          </a:prstGeom>
        </p:spPr>
      </p:pic>
      <p:sp>
        <p:nvSpPr>
          <p:cNvPr id="28" name="Result text"/>
          <p:cNvSpPr txBox="1"/>
          <p:nvPr/>
        </p:nvSpPr>
        <p:spPr>
          <a:xfrm>
            <a:off x="9555480" y="3474720"/>
            <a:ext cx="1947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High-risk week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Early review by the care team</a:t>
            </a:r>
            <a:endParaRPr lang="en-US" sz="1800" dirty="0"/>
          </a:p>
        </p:txBody>
      </p:sp>
      <p:sp>
        <p:nvSpPr>
          <p:cNvPr id="29" name="Beyond reminders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30" name="Beyond reminders text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Beyond reminders: </a:t>
            </a:r>
            <a:r>
              <a:rPr lang="en-US" sz="1600" dirty="0">
                <a:solidFill>
                  <a:schemeClr val="tx1"/>
                </a:solidFill>
              </a:rPr>
              <a:t>rules adapt to each patient's own baseline, so alerts reflect change rather than fixed averages.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ESCALATION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Early Escalation of Predefined Warning Signs</a:t>
            </a:r>
            <a:endParaRPr lang="en-US" sz="3200" dirty="0"/>
          </a:p>
        </p:txBody>
      </p:sp>
      <p:graphicFrame>
        <p:nvGraphicFramePr>
          <p:cNvPr id="9" name="Escal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notified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fall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Caregiver and care 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alert, then clinician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 rise in tremor severity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77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 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for clinician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missed doses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77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and caregiver; care team if it persists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Reminder first, then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or overdue follow-up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71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 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 prompt to reschedule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“off” time or poor check-ins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71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 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weekly summary and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afeguard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6" name="Safeguard text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Alerts go to clinicians for review. The platform does not diagnose, give treatment advice or replace clinical judgment.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CARE TEAM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Care-Team Dashboard: Clinician and Caregiver Views</a:t>
            </a:r>
            <a:endParaRPr lang="en-US" sz="3200" dirty="0"/>
          </a:p>
        </p:txBody>
      </p:sp>
      <p:sp>
        <p:nvSpPr>
          <p:cNvPr id="4" name="Clinician panel"/>
          <p:cNvSpPr/>
          <p:nvPr/>
        </p:nvSpPr>
        <p:spPr>
          <a:xfrm>
            <a:off x="548640" y="1508760"/>
            <a:ext cx="67665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5" name="Clinician badge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linician icon" descr="Clinici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815084"/>
            <a:ext cx="210312" cy="210312"/>
          </a:xfrm>
          <a:prstGeom prst="rect">
            <a:avLst/>
          </a:prstGeom>
        </p:spPr>
      </p:pic>
      <p:sp>
        <p:nvSpPr>
          <p:cNvPr id="7" name="Clinician header"/>
          <p:cNvSpPr txBox="1"/>
          <p:nvPr/>
        </p:nvSpPr>
        <p:spPr>
          <a:xfrm>
            <a:off x="137160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Clinician view: weekly summary (sample data)</a:t>
            </a:r>
            <a:endParaRPr lang="en-US" sz="1800" dirty="0"/>
          </a:p>
        </p:txBody>
      </p:sp>
      <p:sp>
        <p:nvSpPr>
          <p:cNvPr id="8" name="Tile Falls this week"/>
          <p:cNvSpPr/>
          <p:nvPr/>
        </p:nvSpPr>
        <p:spPr>
          <a:xfrm>
            <a:off x="777240" y="2331720"/>
            <a:ext cx="149047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9" name="Tile value Falls this week"/>
          <p:cNvSpPr txBox="1"/>
          <p:nvPr/>
        </p:nvSpPr>
        <p:spPr>
          <a:xfrm>
            <a:off x="777240" y="242316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ile label Falls this week"/>
          <p:cNvSpPr txBox="1"/>
          <p:nvPr/>
        </p:nvSpPr>
        <p:spPr>
          <a:xfrm>
            <a:off x="850392" y="297180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Falls this week</a:t>
            </a:r>
            <a:endParaRPr lang="en-US" sz="1200" dirty="0"/>
          </a:p>
        </p:txBody>
      </p:sp>
      <p:sp>
        <p:nvSpPr>
          <p:cNvPr id="11" name="Tile Tremor vs last week"/>
          <p:cNvSpPr/>
          <p:nvPr/>
        </p:nvSpPr>
        <p:spPr>
          <a:xfrm>
            <a:off x="2404872" y="2331720"/>
            <a:ext cx="149047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12" name="Tile value Tremor vs last week"/>
          <p:cNvSpPr txBox="1"/>
          <p:nvPr/>
        </p:nvSpPr>
        <p:spPr>
          <a:xfrm>
            <a:off x="2404872" y="242316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+18%</a:t>
            </a:r>
            <a:endParaRPr lang="en-US" sz="2600" dirty="0"/>
          </a:p>
        </p:txBody>
      </p:sp>
      <p:sp>
        <p:nvSpPr>
          <p:cNvPr id="13" name="Tile label Tremor vs last week"/>
          <p:cNvSpPr txBox="1"/>
          <p:nvPr/>
        </p:nvSpPr>
        <p:spPr>
          <a:xfrm>
            <a:off x="2478024" y="297180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Tremor vs last week</a:t>
            </a:r>
            <a:endParaRPr lang="en-US" sz="1200" dirty="0"/>
          </a:p>
        </p:txBody>
      </p:sp>
      <p:sp>
        <p:nvSpPr>
          <p:cNvPr id="14" name="Tile Dose adherence"/>
          <p:cNvSpPr/>
          <p:nvPr/>
        </p:nvSpPr>
        <p:spPr>
          <a:xfrm>
            <a:off x="4032504" y="2331720"/>
            <a:ext cx="149047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15" name="Tile value Dose adherence"/>
          <p:cNvSpPr txBox="1"/>
          <p:nvPr/>
        </p:nvSpPr>
        <p:spPr>
          <a:xfrm>
            <a:off x="4032504" y="242316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86%</a:t>
            </a:r>
            <a:endParaRPr lang="en-US" sz="2600" dirty="0"/>
          </a:p>
        </p:txBody>
      </p:sp>
      <p:sp>
        <p:nvSpPr>
          <p:cNvPr id="16" name="Tile label Dose adherence"/>
          <p:cNvSpPr txBox="1"/>
          <p:nvPr/>
        </p:nvSpPr>
        <p:spPr>
          <a:xfrm>
            <a:off x="4105656" y="297180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Dose adherence</a:t>
            </a:r>
            <a:endParaRPr lang="en-US" sz="1200" dirty="0"/>
          </a:p>
        </p:txBody>
      </p:sp>
      <p:sp>
        <p:nvSpPr>
          <p:cNvPr id="17" name="Tile Next follow-up"/>
          <p:cNvSpPr/>
          <p:nvPr/>
        </p:nvSpPr>
        <p:spPr>
          <a:xfrm>
            <a:off x="5660136" y="2331720"/>
            <a:ext cx="149047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18" name="Tile value Next follow-up"/>
          <p:cNvSpPr txBox="1"/>
          <p:nvPr/>
        </p:nvSpPr>
        <p:spPr>
          <a:xfrm>
            <a:off x="5660136" y="242316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Overdue</a:t>
            </a:r>
            <a:endParaRPr lang="en-US" sz="2000" dirty="0"/>
          </a:p>
        </p:txBody>
      </p:sp>
      <p:sp>
        <p:nvSpPr>
          <p:cNvPr id="19" name="Tile label Next follow-up"/>
          <p:cNvSpPr txBox="1"/>
          <p:nvPr/>
        </p:nvSpPr>
        <p:spPr>
          <a:xfrm>
            <a:off x="5733288" y="297180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Next follow-up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77240" y="3657600"/>
          <a:ext cx="6309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Caregiver panel"/>
          <p:cNvSpPr/>
          <p:nvPr/>
        </p:nvSpPr>
        <p:spPr>
          <a:xfrm>
            <a:off x="7498080" y="1508760"/>
            <a:ext cx="4142232" cy="4754880"/>
          </a:xfrm>
          <a:prstGeom prst="roundRect">
            <a:avLst>
              <a:gd name="adj" fmla="val 2649"/>
            </a:avLst>
          </a:prstGeom>
          <a:solidFill>
            <a:schemeClr val="bg2"/>
          </a:solidFill>
          <a:ln/>
        </p:spPr>
      </p:sp>
      <p:sp>
        <p:nvSpPr>
          <p:cNvPr id="22" name="Caregiver badge"/>
          <p:cNvSpPr/>
          <p:nvPr/>
        </p:nvSpPr>
        <p:spPr>
          <a:xfrm>
            <a:off x="772668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Caregiver icon" descr="Caregiv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124" y="1815084"/>
            <a:ext cx="210312" cy="210312"/>
          </a:xfrm>
          <a:prstGeom prst="rect">
            <a:avLst/>
          </a:prstGeom>
        </p:spPr>
      </p:pic>
      <p:sp>
        <p:nvSpPr>
          <p:cNvPr id="24" name="Caregiver header"/>
          <p:cNvSpPr txBox="1"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Caregiver view</a:t>
            </a:r>
            <a:endParaRPr lang="en-US" sz="1800" dirty="0"/>
          </a:p>
        </p:txBody>
      </p:sp>
      <p:sp>
        <p:nvSpPr>
          <p:cNvPr id="25" name="Caregiver row Today's doses"/>
          <p:cNvSpPr/>
          <p:nvPr/>
        </p:nvSpPr>
        <p:spPr>
          <a:xfrm>
            <a:off x="7726680" y="2331720"/>
            <a:ext cx="3685032" cy="850392"/>
          </a:xfrm>
          <a:prstGeom prst="roundRect">
            <a:avLst>
              <a:gd name="adj" fmla="val 10753"/>
            </a:avLst>
          </a:prstGeom>
          <a:solidFill>
            <a:schemeClr val="bg1"/>
          </a:solidFill>
          <a:ln/>
        </p:spPr>
      </p:sp>
      <p:sp>
        <p:nvSpPr>
          <p:cNvPr id="26" name="Today's doses badge"/>
          <p:cNvSpPr/>
          <p:nvPr/>
        </p:nvSpPr>
        <p:spPr>
          <a:xfrm>
            <a:off x="7863840" y="25054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Today's doses icon" descr="Today's dos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628" y="2641244"/>
            <a:ext cx="231343" cy="231343"/>
          </a:xfrm>
          <a:prstGeom prst="rect">
            <a:avLst/>
          </a:prstGeom>
        </p:spPr>
      </p:pic>
      <p:sp>
        <p:nvSpPr>
          <p:cNvPr id="28" name="Caregiver text Today's doses"/>
          <p:cNvSpPr txBox="1"/>
          <p:nvPr/>
        </p:nvSpPr>
        <p:spPr>
          <a:xfrm>
            <a:off x="8503920" y="2331720"/>
            <a:ext cx="2834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Today's doses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Taken, late or missed.</a:t>
            </a:r>
            <a:endParaRPr lang="en-US" sz="1600" dirty="0"/>
          </a:p>
        </p:txBody>
      </p:sp>
      <p:sp>
        <p:nvSpPr>
          <p:cNvPr id="29" name="Caregiver row Fall alerts"/>
          <p:cNvSpPr/>
          <p:nvPr/>
        </p:nvSpPr>
        <p:spPr>
          <a:xfrm>
            <a:off x="7726680" y="3291840"/>
            <a:ext cx="3685032" cy="850392"/>
          </a:xfrm>
          <a:prstGeom prst="roundRect">
            <a:avLst>
              <a:gd name="adj" fmla="val 10753"/>
            </a:avLst>
          </a:prstGeom>
          <a:solidFill>
            <a:schemeClr val="bg1"/>
          </a:solidFill>
          <a:ln/>
        </p:spPr>
      </p:sp>
      <p:sp>
        <p:nvSpPr>
          <p:cNvPr id="30" name="Fall alerts badge"/>
          <p:cNvSpPr/>
          <p:nvPr/>
        </p:nvSpPr>
        <p:spPr>
          <a:xfrm>
            <a:off x="7863840" y="346557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Fall alerts icon" descr="Fall alert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628" y="3601364"/>
            <a:ext cx="231343" cy="231343"/>
          </a:xfrm>
          <a:prstGeom prst="rect">
            <a:avLst/>
          </a:prstGeom>
        </p:spPr>
      </p:pic>
      <p:sp>
        <p:nvSpPr>
          <p:cNvPr id="32" name="Caregiver text Fall alerts"/>
          <p:cNvSpPr txBox="1"/>
          <p:nvPr/>
        </p:nvSpPr>
        <p:spPr>
          <a:xfrm>
            <a:off x="8503920" y="3291840"/>
            <a:ext cx="2834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Fall alerts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Instant, with timestamp.</a:t>
            </a:r>
            <a:endParaRPr lang="en-US" sz="1600" dirty="0"/>
          </a:p>
        </p:txBody>
      </p:sp>
      <p:sp>
        <p:nvSpPr>
          <p:cNvPr id="33" name="Caregiver row Tasks and visits"/>
          <p:cNvSpPr/>
          <p:nvPr/>
        </p:nvSpPr>
        <p:spPr>
          <a:xfrm>
            <a:off x="7726680" y="4251960"/>
            <a:ext cx="3685032" cy="850392"/>
          </a:xfrm>
          <a:prstGeom prst="roundRect">
            <a:avLst>
              <a:gd name="adj" fmla="val 10753"/>
            </a:avLst>
          </a:prstGeom>
          <a:solidFill>
            <a:schemeClr val="bg1"/>
          </a:solidFill>
          <a:ln/>
        </p:spPr>
      </p:sp>
      <p:sp>
        <p:nvSpPr>
          <p:cNvPr id="34" name="Tasks and visits badge"/>
          <p:cNvSpPr/>
          <p:nvPr/>
        </p:nvSpPr>
        <p:spPr>
          <a:xfrm>
            <a:off x="7863840" y="44256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Tasks and visits icon" descr="Tasks and visi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9628" y="4561484"/>
            <a:ext cx="231343" cy="231343"/>
          </a:xfrm>
          <a:prstGeom prst="rect">
            <a:avLst/>
          </a:prstGeom>
        </p:spPr>
      </p:pic>
      <p:sp>
        <p:nvSpPr>
          <p:cNvPr id="36" name="Caregiver text Tasks and visits"/>
          <p:cNvSpPr txBox="1"/>
          <p:nvPr/>
        </p:nvSpPr>
        <p:spPr>
          <a:xfrm>
            <a:off x="8503920" y="4251960"/>
            <a:ext cx="2834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Tasks and visits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is due and when.</a:t>
            </a:r>
            <a:endParaRPr lang="en-US" sz="1600" dirty="0"/>
          </a:p>
        </p:txBody>
      </p:sp>
      <p:sp>
        <p:nvSpPr>
          <p:cNvPr id="37" name="Caregiver row Check-in summary"/>
          <p:cNvSpPr/>
          <p:nvPr/>
        </p:nvSpPr>
        <p:spPr>
          <a:xfrm>
            <a:off x="7726680" y="5212080"/>
            <a:ext cx="3685032" cy="850392"/>
          </a:xfrm>
          <a:prstGeom prst="roundRect">
            <a:avLst>
              <a:gd name="adj" fmla="val 10753"/>
            </a:avLst>
          </a:prstGeom>
          <a:solidFill>
            <a:schemeClr val="bg1"/>
          </a:solidFill>
          <a:ln/>
        </p:spPr>
      </p:sp>
      <p:sp>
        <p:nvSpPr>
          <p:cNvPr id="38" name="Check-in summary badge"/>
          <p:cNvSpPr/>
          <p:nvPr/>
        </p:nvSpPr>
        <p:spPr>
          <a:xfrm>
            <a:off x="7863840" y="538581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Check-in summary icon" descr="Check-in summar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9628" y="5521604"/>
            <a:ext cx="231343" cy="231343"/>
          </a:xfrm>
          <a:prstGeom prst="rect">
            <a:avLst/>
          </a:prstGeom>
        </p:spPr>
      </p:pic>
      <p:sp>
        <p:nvSpPr>
          <p:cNvPr id="40" name="Caregiver text Check-in summary"/>
          <p:cNvSpPr txBox="1"/>
          <p:nvPr/>
        </p:nvSpPr>
        <p:spPr>
          <a:xfrm>
            <a:off x="8503920" y="5212080"/>
            <a:ext cx="2834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Check-in summary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Mood, sleep and stiffness.</a:t>
            </a:r>
            <a:endParaRPr lang="en-US" sz="16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TRUST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Authorized Access and Clinical Safeguards</a:t>
            </a:r>
            <a:endParaRPr lang="en-US" sz="3200" dirty="0"/>
          </a:p>
        </p:txBody>
      </p:sp>
      <p:graphicFrame>
        <p:nvGraphicFramePr>
          <p:cNvPr id="11" name="Role acce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4114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1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data, care plan and check-ins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doses and symptoms; grant or revoke consent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Caregiver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alerts and tasks, with consent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 alerts and support tasks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trends, summaries and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alerts and update the care 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 or coordinator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status, adherence and 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out and reschedule visits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onsent first card"/>
          <p:cNvSpPr/>
          <p:nvPr/>
        </p:nvSpPr>
        <p:spPr>
          <a:xfrm>
            <a:off x="7772400" y="1508760"/>
            <a:ext cx="38679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Consent first badge"/>
          <p:cNvSpPr/>
          <p:nvPr/>
        </p:nvSpPr>
        <p:spPr>
          <a:xfrm>
            <a:off x="7973568" y="18516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onsent first icon" descr="Consent fir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701" y="1999793"/>
            <a:ext cx="252374" cy="252374"/>
          </a:xfrm>
          <a:prstGeom prst="rect">
            <a:avLst/>
          </a:prstGeom>
        </p:spPr>
      </p:pic>
      <p:sp>
        <p:nvSpPr>
          <p:cNvPr id="8" name="Consent first text"/>
          <p:cNvSpPr txBox="1"/>
          <p:nvPr/>
        </p:nvSpPr>
        <p:spPr>
          <a:xfrm>
            <a:off x="8686800" y="1554480"/>
            <a:ext cx="2770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Consent first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Patients choose who sees their data.</a:t>
            </a:r>
            <a:endParaRPr lang="en-US" sz="1600" dirty="0"/>
          </a:p>
        </p:txBody>
      </p:sp>
      <p:sp>
        <p:nvSpPr>
          <p:cNvPr id="9" name="Role-based access card"/>
          <p:cNvSpPr/>
          <p:nvPr/>
        </p:nvSpPr>
        <p:spPr>
          <a:xfrm>
            <a:off x="7772400" y="2880360"/>
            <a:ext cx="38679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Role-based access badge"/>
          <p:cNvSpPr/>
          <p:nvPr/>
        </p:nvSpPr>
        <p:spPr>
          <a:xfrm>
            <a:off x="7973568" y="32232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Role-based access icon" descr="Role-based acc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01" y="3371393"/>
            <a:ext cx="252374" cy="252374"/>
          </a:xfrm>
          <a:prstGeom prst="rect">
            <a:avLst/>
          </a:prstGeom>
        </p:spPr>
      </p:pic>
      <p:sp>
        <p:nvSpPr>
          <p:cNvPr id="12" name="Role-based access text"/>
          <p:cNvSpPr txBox="1"/>
          <p:nvPr/>
        </p:nvSpPr>
        <p:spPr>
          <a:xfrm>
            <a:off x="8686800" y="2926080"/>
            <a:ext cx="2770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Role-based access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Each role sees only what it needs.</a:t>
            </a:r>
            <a:endParaRPr lang="en-US" sz="1600" dirty="0"/>
          </a:p>
        </p:txBody>
      </p:sp>
      <p:sp>
        <p:nvSpPr>
          <p:cNvPr id="13" name="Review, not diagnosis card"/>
          <p:cNvSpPr/>
          <p:nvPr/>
        </p:nvSpPr>
        <p:spPr>
          <a:xfrm>
            <a:off x="7772400" y="4251960"/>
            <a:ext cx="38679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Review, not diagnosis badge"/>
          <p:cNvSpPr/>
          <p:nvPr/>
        </p:nvSpPr>
        <p:spPr>
          <a:xfrm>
            <a:off x="7973568" y="45948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Review, not diagnosis icon" descr="Review, not diagnosi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701" y="4742993"/>
            <a:ext cx="252374" cy="252374"/>
          </a:xfrm>
          <a:prstGeom prst="rect">
            <a:avLst/>
          </a:prstGeom>
        </p:spPr>
      </p:pic>
      <p:sp>
        <p:nvSpPr>
          <p:cNvPr id="16" name="Review, not diagnosis text"/>
          <p:cNvSpPr txBox="1"/>
          <p:nvPr/>
        </p:nvSpPr>
        <p:spPr>
          <a:xfrm>
            <a:off x="8686800" y="4297680"/>
            <a:ext cx="2770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Review, not diagnosis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Clinicians decide; the platform informs.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01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IMPACT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Patients, Caregivers and Clinicians</a:t>
            </a:r>
            <a:endParaRPr lang="en-US" sz="3200" dirty="0"/>
          </a:p>
        </p:txBody>
      </p:sp>
      <p:sp>
        <p:nvSpPr>
          <p:cNvPr id="4" name="Patients card"/>
          <p:cNvSpPr/>
          <p:nvPr/>
        </p:nvSpPr>
        <p:spPr>
          <a:xfrm>
            <a:off x="548640" y="1508760"/>
            <a:ext cx="3611880" cy="402336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5" name="Patients badg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atients icon" descr="Pati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1910182"/>
            <a:ext cx="294437" cy="294437"/>
          </a:xfrm>
          <a:prstGeom prst="rect">
            <a:avLst/>
          </a:prstGeom>
        </p:spPr>
      </p:pic>
      <p:sp>
        <p:nvSpPr>
          <p:cNvPr id="7" name="Patients title"/>
          <p:cNvSpPr txBox="1"/>
          <p:nvPr/>
        </p:nvSpPr>
        <p:spPr>
          <a:xfrm>
            <a:off x="164592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Patients</a:t>
            </a:r>
            <a:endParaRPr lang="en-US" sz="2200" dirty="0"/>
          </a:p>
        </p:txBody>
      </p:sp>
      <p:sp>
        <p:nvSpPr>
          <p:cNvPr id="8" name="Patients bullets"/>
          <p:cNvSpPr txBox="1"/>
          <p:nvPr/>
        </p:nvSpPr>
        <p:spPr>
          <a:xfrm>
            <a:off x="822960" y="2651760"/>
            <a:ext cx="3063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Safer at home, with fast fall escalation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simple plan that fits daily life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Fewer missed doses and follow-ups</a:t>
            </a:r>
            <a:endParaRPr lang="en-US" sz="1800" dirty="0"/>
          </a:p>
        </p:txBody>
      </p:sp>
      <p:sp>
        <p:nvSpPr>
          <p:cNvPr id="9" name="Caregivers card"/>
          <p:cNvSpPr/>
          <p:nvPr/>
        </p:nvSpPr>
        <p:spPr>
          <a:xfrm>
            <a:off x="4288536" y="1508760"/>
            <a:ext cx="3611880" cy="402336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0" name="Caregivers badge"/>
          <p:cNvSpPr/>
          <p:nvPr/>
        </p:nvSpPr>
        <p:spPr>
          <a:xfrm>
            <a:off x="4562856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egivers icon" descr="Caregiv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678" y="1910182"/>
            <a:ext cx="294437" cy="294437"/>
          </a:xfrm>
          <a:prstGeom prst="rect">
            <a:avLst/>
          </a:prstGeom>
        </p:spPr>
      </p:pic>
      <p:sp>
        <p:nvSpPr>
          <p:cNvPr id="12" name="Caregivers title"/>
          <p:cNvSpPr txBox="1"/>
          <p:nvPr/>
        </p:nvSpPr>
        <p:spPr>
          <a:xfrm>
            <a:off x="5385816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Caregivers</a:t>
            </a:r>
            <a:endParaRPr lang="en-US" sz="2200" dirty="0"/>
          </a:p>
        </p:txBody>
      </p:sp>
      <p:sp>
        <p:nvSpPr>
          <p:cNvPr id="13" name="Caregivers bullets"/>
          <p:cNvSpPr txBox="1"/>
          <p:nvPr/>
        </p:nvSpPr>
        <p:spPr>
          <a:xfrm>
            <a:off x="4562856" y="2651760"/>
            <a:ext cx="3063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Shared alerts without constant checking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Clear tasks and appointment reminders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Confidence that concerns reach the clinic</a:t>
            </a:r>
            <a:endParaRPr lang="en-US" sz="1800" dirty="0"/>
          </a:p>
        </p:txBody>
      </p:sp>
      <p:sp>
        <p:nvSpPr>
          <p:cNvPr id="14" name="Care team card"/>
          <p:cNvSpPr/>
          <p:nvPr/>
        </p:nvSpPr>
        <p:spPr>
          <a:xfrm>
            <a:off x="8028432" y="1508760"/>
            <a:ext cx="3611880" cy="402336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5" name="Care team badge"/>
          <p:cNvSpPr/>
          <p:nvPr/>
        </p:nvSpPr>
        <p:spPr>
          <a:xfrm>
            <a:off x="8302752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e team icon" descr="Care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574" y="1910182"/>
            <a:ext cx="294437" cy="294437"/>
          </a:xfrm>
          <a:prstGeom prst="rect">
            <a:avLst/>
          </a:prstGeom>
        </p:spPr>
      </p:pic>
      <p:sp>
        <p:nvSpPr>
          <p:cNvPr id="17" name="Care team title"/>
          <p:cNvSpPr txBox="1"/>
          <p:nvPr/>
        </p:nvSpPr>
        <p:spPr>
          <a:xfrm>
            <a:off x="9125712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Care team</a:t>
            </a:r>
            <a:endParaRPr lang="en-US" sz="2200" dirty="0"/>
          </a:p>
        </p:txBody>
      </p:sp>
      <p:sp>
        <p:nvSpPr>
          <p:cNvPr id="18" name="Care team bullets"/>
          <p:cNvSpPr txBox="1"/>
          <p:nvPr/>
        </p:nvSpPr>
        <p:spPr>
          <a:xfrm>
            <a:off x="8302752" y="2651760"/>
            <a:ext cx="3063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Visibility into symptoms between visits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Medication-aware trends before each visit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Prioritized alerts and weekly summaries</a:t>
            </a:r>
            <a:endParaRPr lang="en-US" sz="1800" dirty="0"/>
          </a:p>
        </p:txBody>
      </p:sp>
      <p:sp>
        <p:nvSpPr>
          <p:cNvPr id="19" name="Outcome"/>
          <p:cNvSpPr/>
          <p:nvPr/>
        </p:nvSpPr>
        <p:spPr>
          <a:xfrm>
            <a:off x="548640" y="571500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/>
        </p:spPr>
      </p:sp>
      <p:sp>
        <p:nvSpPr>
          <p:cNvPr id="20" name="Outcome text"/>
          <p:cNvSpPr txBox="1"/>
          <p:nvPr/>
        </p:nvSpPr>
        <p:spPr>
          <a:xfrm>
            <a:off x="822960" y="57150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Outcome: fewer blind spots between visits, earlier action, and more focused consultations.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inson Care Platform">
  <a:themeElements>
    <a:clrScheme name="Parkinson Care Platform">
      <a:dk1>
        <a:srgbClr val="1D1D1D"/>
      </a:dk1>
      <a:lt1>
        <a:srgbClr val="FFFFFF"/>
      </a:lt1>
      <a:dk2>
        <a:srgbClr val="0B2A4A"/>
      </a:dk2>
      <a:lt2>
        <a:srgbClr val="F3F6FA"/>
      </a:lt2>
      <a:accent1>
        <a:srgbClr val="0071E3"/>
      </a:accent1>
      <a:accent2>
        <a:srgbClr val="00A68C"/>
      </a:accent2>
      <a:accent3>
        <a:srgbClr val="F5A000"/>
      </a:accent3>
      <a:accent4>
        <a:srgbClr val="E5484D"/>
      </a:accent4>
      <a:accent5>
        <a:srgbClr val="5B6572"/>
      </a:accent5>
      <a:accent6>
        <a:srgbClr val="E5E5E5"/>
      </a:accent6>
      <a:hlink>
        <a:srgbClr val="0071E3"/>
      </a:hlink>
      <a:folHlink>
        <a:srgbClr val="5B6572"/>
      </a:folHlink>
    </a:clrScheme>
    <a:fontScheme name="Parkinson Care Platfor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Parkinson Care Platform</vt:lpstr>
      <vt:lpstr>Parkinson's Continuity-of-Care Platform</vt:lpstr>
      <vt:lpstr>Continuity of care, not just monitoring</vt:lpstr>
      <vt:lpstr>Care Breaks Down Between Visits</vt:lpstr>
      <vt:lpstr>One Platform, Four Connected Functions</vt:lpstr>
      <vt:lpstr>Passive Tremor and Fall Sensing Feeds the Platform</vt:lpstr>
      <vt:lpstr>Medication Coordination: Linking Doses to Symptoms</vt:lpstr>
      <vt:lpstr>Daily Check-ins and a Personalized Care Plan</vt:lpstr>
      <vt:lpstr>Follow-up Gap Detection and Early Risk Flags</vt:lpstr>
      <vt:lpstr>Early Escalation of Predefined Warning Signs</vt:lpstr>
      <vt:lpstr>Care-Team Dashboard: Clinician and Caregiver Views</vt:lpstr>
      <vt:lpstr>Authorized Access and Clinical Safeguards</vt:lpstr>
      <vt:lpstr>Benefits for Patients, Caregivers and Clinicians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Parkinson's Continuity-of-Care Platform</dc:title>
  <dc:subject>PptxGenJS Presentation</dc:subject>
  <dc:creator>PptxGenJS</dc:creator>
  <cp:lastModifiedBy>Venou Yashmi</cp:lastModifiedBy>
  <cp:revision>3</cp:revision>
  <dcterms:created xsi:type="dcterms:W3CDTF">2026-10-13T07:43:10Z</dcterms:created>
  <dcterms:modified xsi:type="dcterms:W3CDTF">2026-10-13T08:46:39Z</dcterms:modified>
</cp:coreProperties>
</file>